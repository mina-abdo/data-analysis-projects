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Host Grotesk Medium" panose="020B0604020202020204" charset="0"/>
      <p:regular r:id="rId13"/>
    </p:embeddedFont>
    <p:embeddedFont>
      <p:font typeface="Roboto" panose="02000000000000000000" pitchFamily="2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7E6E6"/>
    <a:srgbClr val="D4DF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9" d="100"/>
          <a:sy n="69" d="100"/>
        </p:scale>
        <p:origin x="-12" y="-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7653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Relationship Id="rId1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80028"/>
            <a:ext cx="71920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Retail Sales Analysis Project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128968"/>
            <a:ext cx="7556421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Comprehensive analysis of 19M sales transactions revealing strategic insights to optimize marketing, enhance customer engagement, and drive revenue growth across product categories and sales channels.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976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424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Project Scope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793790" y="3987522"/>
            <a:ext cx="88714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Understanding Retail Performance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52632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Business Challenge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844421"/>
            <a:ext cx="6244709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leading retail company needed to understand evolving sales patterns to enhance performance, customer satisfaction, and long-term loyalty across demographics, product categories, and sales channels.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599521" y="52632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Dataset Scale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599521" y="5844421"/>
            <a:ext cx="62447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19M records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sales transactions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599521" y="6263878"/>
            <a:ext cx="62447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 frame: 2017-2019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599521" y="6683335"/>
            <a:ext cx="62447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 attributes analyzed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599521" y="7102793"/>
            <a:ext cx="62447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 null records cleaned</a:t>
            </a:r>
            <a:endParaRPr lang="en-US" sz="175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FAD0EB8-1260-B98C-5080-CB448F667FEA}"/>
              </a:ext>
            </a:extLst>
          </p:cNvPr>
          <p:cNvSpPr/>
          <p:nvPr/>
        </p:nvSpPr>
        <p:spPr>
          <a:xfrm>
            <a:off x="12903200" y="7730836"/>
            <a:ext cx="1597891" cy="434109"/>
          </a:xfrm>
          <a:prstGeom prst="round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Mina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50075"/>
            <a:ext cx="60037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Technical Methodology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1248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067526"/>
            <a:ext cx="6407944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2418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Preparation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732252"/>
            <a:ext cx="6407944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Python-based EDA with feature engineering, creating temporal metrics and performance indicators from raw transaction data.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428548" y="271248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48" y="3067526"/>
            <a:ext cx="6408063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28548" y="3241834"/>
            <a:ext cx="28711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Database Architecture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428548" y="3732252"/>
            <a:ext cx="6408063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 schema implementation in MS SQL Server with fact and dimension tables for optimized querying.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793790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141714"/>
            <a:ext cx="6407944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3790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Advanced Analytics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93790" y="5829181"/>
            <a:ext cx="6407944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 queries with window functions and CTEs to extract actionable insights from complex patterns.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428548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04</a:t>
            </a:r>
            <a:endParaRPr lang="en-US" sz="17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48" y="5141714"/>
            <a:ext cx="6408063" cy="30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28548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Visualization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428548" y="5829181"/>
            <a:ext cx="6408063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 BI dashboards with interactive filtering, drill-through capabilities, and executive reporting.</a:t>
            </a:r>
            <a:endParaRPr lang="en-US" sz="175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3E238C0-C7CC-8D81-971B-55C22DD27E0F}"/>
              </a:ext>
            </a:extLst>
          </p:cNvPr>
          <p:cNvSpPr/>
          <p:nvPr/>
        </p:nvSpPr>
        <p:spPr>
          <a:xfrm>
            <a:off x="12903200" y="7730836"/>
            <a:ext cx="1597891" cy="434109"/>
          </a:xfrm>
          <a:prstGeom prst="round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Mina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88670"/>
            <a:ext cx="73275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Engineering Excellence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1837611"/>
            <a:ext cx="3664744" cy="3238143"/>
          </a:xfrm>
          <a:prstGeom prst="roundRect">
            <a:avLst>
              <a:gd name="adj" fmla="val 2942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2"/>
          <p:cNvSpPr/>
          <p:nvPr/>
        </p:nvSpPr>
        <p:spPr>
          <a:xfrm>
            <a:off x="6514624" y="20720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2562463"/>
            <a:ext cx="3195876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per Unit calculated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514624" y="2981920"/>
            <a:ext cx="3195876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Stock Turnover metrics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514624" y="3401378"/>
            <a:ext cx="3195876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Temporal features extracted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10171748" y="1837611"/>
            <a:ext cx="3664863" cy="3238143"/>
          </a:xfrm>
          <a:prstGeom prst="roundRect">
            <a:avLst>
              <a:gd name="adj" fmla="val 2942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>
            <a:off x="10406182" y="20720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Star Schema Design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406182" y="2562463"/>
            <a:ext cx="3195995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FactSales: Transaction metrics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406182" y="3322082"/>
            <a:ext cx="3195995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DimProduct: Product hierarchy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406182" y="4081701"/>
            <a:ext cx="319599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DimStore: Store attributes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10406182" y="4501158"/>
            <a:ext cx="319599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DimDate: Time intelligence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6280190" y="5302568"/>
            <a:ext cx="7556421" cy="2138363"/>
          </a:xfrm>
          <a:prstGeom prst="roundRect">
            <a:avLst>
              <a:gd name="adj" fmla="val 4455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3"/>
          <p:cNvSpPr/>
          <p:nvPr/>
        </p:nvSpPr>
        <p:spPr>
          <a:xfrm>
            <a:off x="6514624" y="55370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Quality Validation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514624" y="6027420"/>
            <a:ext cx="708755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 missing foreign keys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6514624" y="6446877"/>
            <a:ext cx="708755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Logical value imputation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6514624" y="6866334"/>
            <a:ext cx="708755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Type consistency verified</a:t>
            </a:r>
            <a:endParaRPr lang="en-US" sz="175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ECB7E91-462C-67A4-9236-0C38E8F57140}"/>
              </a:ext>
            </a:extLst>
          </p:cNvPr>
          <p:cNvSpPr/>
          <p:nvPr/>
        </p:nvSpPr>
        <p:spPr>
          <a:xfrm>
            <a:off x="12903200" y="7730836"/>
            <a:ext cx="1597891" cy="434109"/>
          </a:xfrm>
          <a:prstGeom prst="round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Mina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612"/>
            <a:ext cx="76825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Product Performance Insights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10051"/>
            <a:ext cx="3660338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84%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115020" y="3341846"/>
            <a:ext cx="3017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Revenue Concentration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922990"/>
            <a:ext cx="3660338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hierarchies H00 and H01 generate 84% of total profit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737616" y="2310051"/>
            <a:ext cx="3660458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30%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150168" y="33418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Profit Margin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737616" y="3922990"/>
            <a:ext cx="3660458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Assumed margin used for profitability analysis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4858464"/>
            <a:ext cx="7604284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Analysis of hierarchy3 level products revealed significant revenue concentration, enabling targeted inventory and marketing strategies for high-performing categories.</a:t>
            </a:r>
            <a:endParaRPr lang="en-US" sz="17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96" y="2196703"/>
            <a:ext cx="4885015" cy="4885015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510005C-AF91-1029-DAFC-EAF79BD0D890}"/>
              </a:ext>
            </a:extLst>
          </p:cNvPr>
          <p:cNvSpPr/>
          <p:nvPr/>
        </p:nvSpPr>
        <p:spPr>
          <a:xfrm>
            <a:off x="12903200" y="7730836"/>
            <a:ext cx="1597891" cy="434109"/>
          </a:xfrm>
          <a:prstGeom prst="round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Mina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306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5903" y="620316"/>
            <a:ext cx="7126962" cy="704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Store Performance Analysis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275903" y="1663422"/>
            <a:ext cx="3669744" cy="3029902"/>
          </a:xfrm>
          <a:prstGeom prst="roundRect">
            <a:avLst>
              <a:gd name="adj" fmla="val 4829"/>
            </a:avLst>
          </a:prstGeom>
          <a:solidFill>
            <a:srgbClr val="FAF9F5"/>
          </a:solidFill>
          <a:ln w="30480">
            <a:solidFill>
              <a:srgbClr val="95CCD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2"/>
          <p:cNvSpPr/>
          <p:nvPr/>
        </p:nvSpPr>
        <p:spPr>
          <a:xfrm>
            <a:off x="6245423" y="1663422"/>
            <a:ext cx="121920" cy="3029902"/>
          </a:xfrm>
          <a:prstGeom prst="roundRect">
            <a:avLst>
              <a:gd name="adj" fmla="val 77708"/>
            </a:avLst>
          </a:prstGeom>
          <a:solidFill>
            <a:srgbClr val="95CCD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3"/>
          <p:cNvSpPr/>
          <p:nvPr/>
        </p:nvSpPr>
        <p:spPr>
          <a:xfrm>
            <a:off x="6623328" y="1919407"/>
            <a:ext cx="281963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Top Performers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623328" y="2407087"/>
            <a:ext cx="3066336" cy="203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Store types ST04 and ST01 generate </a:t>
            </a: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83% of revenue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These locations demonstrate optimal performance and should serve as models for improvement initiatives.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152" y="1663422"/>
            <a:ext cx="3669744" cy="3029902"/>
          </a:xfrm>
          <a:prstGeom prst="roundRect">
            <a:avLst>
              <a:gd name="adj" fmla="val 4829"/>
            </a:avLst>
          </a:prstGeom>
          <a:solidFill>
            <a:srgbClr val="FAF9F5"/>
          </a:solidFill>
          <a:ln w="30480">
            <a:solidFill>
              <a:srgbClr val="95CCD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6"/>
          <p:cNvSpPr/>
          <p:nvPr/>
        </p:nvSpPr>
        <p:spPr>
          <a:xfrm>
            <a:off x="10140672" y="1663422"/>
            <a:ext cx="121920" cy="3029902"/>
          </a:xfrm>
          <a:prstGeom prst="roundRect">
            <a:avLst>
              <a:gd name="adj" fmla="val 77708"/>
            </a:avLst>
          </a:prstGeom>
          <a:solidFill>
            <a:srgbClr val="95CCD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>
            <a:off x="10518577" y="1919407"/>
            <a:ext cx="281963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Space Efficiency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518577" y="2407087"/>
            <a:ext cx="3066336" cy="1691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ST04 and ST01 achieve </a:t>
            </a: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highest revenue per square meter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indicating superior space utilization and customer traffic management.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75903" y="4918829"/>
            <a:ext cx="3669744" cy="2691527"/>
          </a:xfrm>
          <a:prstGeom prst="roundRect">
            <a:avLst>
              <a:gd name="adj" fmla="val 5436"/>
            </a:avLst>
          </a:prstGeom>
          <a:solidFill>
            <a:srgbClr val="FAF9F5"/>
          </a:solidFill>
          <a:ln w="30480">
            <a:solidFill>
              <a:srgbClr val="95CCD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0"/>
          <p:cNvSpPr/>
          <p:nvPr/>
        </p:nvSpPr>
        <p:spPr>
          <a:xfrm>
            <a:off x="6245423" y="4918829"/>
            <a:ext cx="121920" cy="2691527"/>
          </a:xfrm>
          <a:prstGeom prst="roundRect">
            <a:avLst>
              <a:gd name="adj" fmla="val 77708"/>
            </a:avLst>
          </a:prstGeom>
          <a:solidFill>
            <a:srgbClr val="95CCD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1"/>
          <p:cNvSpPr/>
          <p:nvPr/>
        </p:nvSpPr>
        <p:spPr>
          <a:xfrm>
            <a:off x="6623328" y="5174813"/>
            <a:ext cx="281963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Performance Gap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623328" y="5662493"/>
            <a:ext cx="3066336" cy="1691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Bottom 5 stores require </a:t>
            </a: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training plans and operational support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Top performers need recognition programs to maintain excellence.</a:t>
            </a:r>
            <a:endParaRPr lang="en-US" sz="175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D973DAF-18D1-92B3-6F8F-E126676E872D}"/>
              </a:ext>
            </a:extLst>
          </p:cNvPr>
          <p:cNvSpPr/>
          <p:nvPr/>
        </p:nvSpPr>
        <p:spPr>
          <a:xfrm>
            <a:off x="12903200" y="7730836"/>
            <a:ext cx="1597891" cy="434109"/>
          </a:xfrm>
          <a:prstGeom prst="round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Mina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4820" y="465534"/>
            <a:ext cx="4550331" cy="415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Promotion Campaign Success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64820" y="1212532"/>
            <a:ext cx="1660088" cy="207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Promo Type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641521" y="2432447"/>
            <a:ext cx="163353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71%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2332" y="1602343"/>
            <a:ext cx="1992154" cy="19921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28305" y="3760351"/>
            <a:ext cx="1660088" cy="207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Sales Impact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64820" y="4100512"/>
            <a:ext cx="5987177" cy="199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PR03 and PR07 combined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641521" y="5428655"/>
            <a:ext cx="163353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49%</a:t>
            </a:r>
            <a:endParaRPr lang="en-US" sz="2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2332" y="4598551"/>
            <a:ext cx="1992154" cy="199215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28305" y="6756559"/>
            <a:ext cx="1660088" cy="207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PR03 Share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64820" y="7096720"/>
            <a:ext cx="5987177" cy="199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 promo type 1 sales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64820" y="7445335"/>
            <a:ext cx="5987177" cy="199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471K total sales</a:t>
            </a: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achieved through promo type 1 campaigns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783467" y="1212532"/>
            <a:ext cx="1660088" cy="207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Promo Type 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9661327" y="2432447"/>
            <a:ext cx="163353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99.6%</a:t>
            </a:r>
            <a:endParaRPr lang="en-US" sz="26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2138" y="1602343"/>
            <a:ext cx="1992154" cy="199215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48230" y="3760351"/>
            <a:ext cx="1660088" cy="207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Dominance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783467" y="4100512"/>
            <a:ext cx="7389614" cy="199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PR03 market share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9661327" y="5428655"/>
            <a:ext cx="163353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35%</a:t>
            </a:r>
            <a:endParaRPr lang="en-US" sz="26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2138" y="4598551"/>
            <a:ext cx="1992154" cy="199215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648230" y="6756559"/>
            <a:ext cx="1660088" cy="207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City Focus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783467" y="7096720"/>
            <a:ext cx="7389614" cy="199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C014 and C022 contribution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6783467" y="7445335"/>
            <a:ext cx="7389614" cy="199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19M total sales</a:t>
            </a: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driven by promo type 2, with PR03 proving exceptionally effective in cities C014 and C022</a:t>
            </a:r>
            <a:endParaRPr lang="en-US" sz="10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69D6F6D-17C1-05DA-D80C-FFA13E38FB04}"/>
              </a:ext>
            </a:extLst>
          </p:cNvPr>
          <p:cNvSpPr/>
          <p:nvPr/>
        </p:nvSpPr>
        <p:spPr>
          <a:xfrm>
            <a:off x="12903200" y="7730836"/>
            <a:ext cx="1597891" cy="434109"/>
          </a:xfrm>
          <a:prstGeom prst="round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Mina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53716"/>
            <a:ext cx="73831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Inventory &amp; Seasonal Trends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202656"/>
            <a:ext cx="1134070" cy="162437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41074" y="24294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Peak Season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641074" y="2919889"/>
            <a:ext cx="6195536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May to August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represents highest revenue period, requiring increased inventory and staffing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3827026"/>
            <a:ext cx="1134070" cy="162437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41074" y="40538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Stock Turnover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641074" y="4544258"/>
            <a:ext cx="6195536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Clusters </a:t>
            </a: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 7, and 9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represent 45% of turnover; H02 shows 40% of top sales-to-stock ratio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5451396"/>
            <a:ext cx="1134070" cy="162437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41074" y="56782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Optimization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41074" y="6168628"/>
            <a:ext cx="6195536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Align inventory levels with category performance to reduce holding costs and stockouts</a:t>
            </a:r>
            <a:endParaRPr lang="en-US" sz="175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A9FBEE9-12BE-63F0-C083-720587D8B835}"/>
              </a:ext>
            </a:extLst>
          </p:cNvPr>
          <p:cNvSpPr/>
          <p:nvPr/>
        </p:nvSpPr>
        <p:spPr>
          <a:xfrm>
            <a:off x="12903200" y="7730836"/>
            <a:ext cx="1597891" cy="434109"/>
          </a:xfrm>
          <a:prstGeom prst="round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Mina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669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Strategic Roadmap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299960" y="2309098"/>
            <a:ext cx="30480" cy="4773692"/>
          </a:xfrm>
          <a:prstGeom prst="roundRect">
            <a:avLst>
              <a:gd name="adj" fmla="val 312558"/>
            </a:avLst>
          </a:prstGeom>
          <a:solidFill>
            <a:srgbClr val="BFD3D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6410087" y="2549009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BFD3D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7060049" y="230909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7145119" y="235160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912382" y="2386965"/>
            <a:ext cx="42687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Immediate Actions (0-3 Months)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2877383"/>
            <a:ext cx="5387340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 loyalty program targeting returning customers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3637002"/>
            <a:ext cx="5387340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Optimize discount strategy for high-margin products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4396621"/>
            <a:ext cx="5387340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 PR03 campaigns in cities C014 and C022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539871" y="3909893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BFD3D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7060049" y="366998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7145119" y="371248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8449270" y="3747849"/>
            <a:ext cx="36418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Medium-term (3-6 Months)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449270" y="4238268"/>
            <a:ext cx="5387340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personalized marketing campaigns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8449270" y="4657725"/>
            <a:ext cx="5387340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Align inventory with performance insights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8449270" y="5077182"/>
            <a:ext cx="5387340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 customer journey touchpoints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6410087" y="5430322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BFD3D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7060049" y="519041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7145119" y="523291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2650" dirty="0"/>
          </a:p>
        </p:txBody>
      </p:sp>
      <p:sp>
        <p:nvSpPr>
          <p:cNvPr id="21" name="Text 19"/>
          <p:cNvSpPr/>
          <p:nvPr/>
        </p:nvSpPr>
        <p:spPr>
          <a:xfrm>
            <a:off x="1549717" y="5268278"/>
            <a:ext cx="46314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Long-term Strategy (6-12 Months)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93790" y="5758696"/>
            <a:ext cx="5387340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 predictive churn models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93790" y="6178153"/>
            <a:ext cx="5387340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Optimize customer lifetime value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93790" y="6597610"/>
            <a:ext cx="5387340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Launch data-driven product development</a:t>
            </a:r>
            <a:endParaRPr lang="en-US" sz="175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CECB2A0-ABC2-2CE4-C2BE-6C515E8FAAA2}"/>
              </a:ext>
            </a:extLst>
          </p:cNvPr>
          <p:cNvSpPr/>
          <p:nvPr/>
        </p:nvSpPr>
        <p:spPr>
          <a:xfrm>
            <a:off x="12903200" y="7730836"/>
            <a:ext cx="1597891" cy="434109"/>
          </a:xfrm>
          <a:prstGeom prst="round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Mina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1969" y="508397"/>
            <a:ext cx="365700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Impact &amp; Next Steps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511969" y="1184910"/>
            <a:ext cx="8120063" cy="1428393"/>
          </a:xfrm>
          <a:prstGeom prst="roundRect">
            <a:avLst>
              <a:gd name="adj" fmla="val 430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798" y="1338739"/>
            <a:ext cx="438745" cy="43874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6408" y="1459349"/>
            <a:ext cx="197406" cy="19740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65798" y="1923693"/>
            <a:ext cx="182844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Retention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665798" y="2240042"/>
            <a:ext cx="7812405" cy="219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Increase customer loyalty through targeted programs based on segment insights</a:t>
            </a:r>
            <a:endParaRPr lang="en-US" sz="1150" dirty="0"/>
          </a:p>
        </p:txBody>
      </p:sp>
      <p:sp>
        <p:nvSpPr>
          <p:cNvPr id="9" name="Shape 4"/>
          <p:cNvSpPr/>
          <p:nvPr/>
        </p:nvSpPr>
        <p:spPr>
          <a:xfrm>
            <a:off x="511969" y="2759512"/>
            <a:ext cx="8120063" cy="1428393"/>
          </a:xfrm>
          <a:prstGeom prst="roundRect">
            <a:avLst>
              <a:gd name="adj" fmla="val 430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798" y="2913340"/>
            <a:ext cx="438745" cy="438745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6408" y="3033951"/>
            <a:ext cx="197406" cy="19740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65798" y="3498294"/>
            <a:ext cx="182844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Optimization</a:t>
            </a:r>
            <a:endParaRPr lang="en-US" sz="1400" dirty="0"/>
          </a:p>
        </p:txBody>
      </p:sp>
      <p:sp>
        <p:nvSpPr>
          <p:cNvPr id="13" name="Text 6"/>
          <p:cNvSpPr/>
          <p:nvPr/>
        </p:nvSpPr>
        <p:spPr>
          <a:xfrm>
            <a:off x="665798" y="3814643"/>
            <a:ext cx="7812405" cy="219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Optimize marketing spend with data-driven, segment-specific strategies</a:t>
            </a:r>
            <a:endParaRPr lang="en-US" sz="1150" dirty="0"/>
          </a:p>
        </p:txBody>
      </p:sp>
      <p:sp>
        <p:nvSpPr>
          <p:cNvPr id="14" name="Shape 7"/>
          <p:cNvSpPr/>
          <p:nvPr/>
        </p:nvSpPr>
        <p:spPr>
          <a:xfrm>
            <a:off x="511969" y="4334113"/>
            <a:ext cx="8120063" cy="1428393"/>
          </a:xfrm>
          <a:prstGeom prst="roundRect">
            <a:avLst>
              <a:gd name="adj" fmla="val 430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5798" y="4487942"/>
            <a:ext cx="438745" cy="438745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6408" y="4608552"/>
            <a:ext cx="197406" cy="197406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65798" y="5072896"/>
            <a:ext cx="182844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Innovation</a:t>
            </a:r>
            <a:endParaRPr lang="en-US" sz="1400" dirty="0"/>
          </a:p>
        </p:txBody>
      </p:sp>
      <p:sp>
        <p:nvSpPr>
          <p:cNvPr id="18" name="Text 9"/>
          <p:cNvSpPr/>
          <p:nvPr/>
        </p:nvSpPr>
        <p:spPr>
          <a:xfrm>
            <a:off x="665798" y="5389245"/>
            <a:ext cx="7812405" cy="219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 product offerings using performance analytics and customer feedback</a:t>
            </a:r>
            <a:endParaRPr lang="en-US" sz="1150" dirty="0"/>
          </a:p>
        </p:txBody>
      </p:sp>
      <p:sp>
        <p:nvSpPr>
          <p:cNvPr id="19" name="Shape 10"/>
          <p:cNvSpPr/>
          <p:nvPr/>
        </p:nvSpPr>
        <p:spPr>
          <a:xfrm>
            <a:off x="511969" y="5908715"/>
            <a:ext cx="8120063" cy="1428393"/>
          </a:xfrm>
          <a:prstGeom prst="roundRect">
            <a:avLst>
              <a:gd name="adj" fmla="val 430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5798" y="6062543"/>
            <a:ext cx="438745" cy="438745"/>
          </a:xfrm>
          <a:prstGeom prst="rect">
            <a:avLst/>
          </a:prstGeom>
        </p:spPr>
      </p:pic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86408" y="6183154"/>
            <a:ext cx="197406" cy="197406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665798" y="6647498"/>
            <a:ext cx="182844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Efficiency</a:t>
            </a:r>
            <a:endParaRPr lang="en-US" sz="1400" dirty="0"/>
          </a:p>
        </p:txBody>
      </p:sp>
      <p:sp>
        <p:nvSpPr>
          <p:cNvPr id="23" name="Text 12"/>
          <p:cNvSpPr/>
          <p:nvPr/>
        </p:nvSpPr>
        <p:spPr>
          <a:xfrm>
            <a:off x="665798" y="6963847"/>
            <a:ext cx="7812405" cy="219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 operations through pattern recognition and predictive analytics</a:t>
            </a:r>
            <a:endParaRPr lang="en-US" sz="1150" dirty="0"/>
          </a:p>
        </p:txBody>
      </p:sp>
      <p:sp>
        <p:nvSpPr>
          <p:cNvPr id="24" name="Text 13"/>
          <p:cNvSpPr/>
          <p:nvPr/>
        </p:nvSpPr>
        <p:spPr>
          <a:xfrm>
            <a:off x="511969" y="7501652"/>
            <a:ext cx="8120063" cy="219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scalable technical foundation enables ongoing business intelligence and continuous optimization of retail performance.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594</Words>
  <Application>Microsoft Office PowerPoint</Application>
  <PresentationFormat>Custom</PresentationFormat>
  <Paragraphs>121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Host Grotesk Medium</vt:lpstr>
      <vt:lpstr>Host Grotesk Light</vt:lpstr>
      <vt:lpstr>Roboto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Mina Fawzy</dc:creator>
  <cp:lastModifiedBy>Mina Abdelmalak Fawzy Mikhail</cp:lastModifiedBy>
  <cp:revision>2</cp:revision>
  <dcterms:created xsi:type="dcterms:W3CDTF">2025-12-14T20:15:38Z</dcterms:created>
  <dcterms:modified xsi:type="dcterms:W3CDTF">2025-12-14T20:21:51Z</dcterms:modified>
</cp:coreProperties>
</file>